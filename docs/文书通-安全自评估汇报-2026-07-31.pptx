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2506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4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内部办公智能体 · 内网部署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86384" y="155448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文书通安全自评估汇报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C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接本地大模型 · 数据不出内网 · 对标国家标准的安全自评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8FA6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评估日期：2026-07-31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8FA6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对标标准：GB/T 45654—2025 · OWASP Top 10 for LLM 2025 · 等保 2.0（参照）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8FA6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评估执行：字节跳动 Trae + 腾讯云 CodeBuddy，代码审查调用 Kimi K3 开源大模型（2.8 万亿参数）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464040" y="1737360"/>
            <a:ext cx="2103120" cy="2103120"/>
          </a:xfrm>
          <a:prstGeom prst="ellipse">
            <a:avLst/>
          </a:prstGeom>
          <a:solidFill>
            <a:srgbClr val="02506B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2194560"/>
            <a:ext cx="1188720" cy="1188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098280" y="4069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结论：建议批准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有限范围内部试点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结论先行：风险可控，可以放心试点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文书通数据全程不出内网，经标准化自评估，</a:t>
            </a:r>
            <a:pPr indent="0" marL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025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未发现不可接受的安全阻断项</a:t>
            </a:r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；发现的风险已全部封堵或转化为可逐台核验的部署条件，建议批准开展有限试点。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360273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606040"/>
            <a:ext cx="3602736" cy="10972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2926080"/>
            <a:ext cx="3602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5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不可接受的安全阻断项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7200" y="4352544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类标准化方法交叉验证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2606040"/>
            <a:ext cx="360273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34256" y="2606040"/>
            <a:ext cx="3602736" cy="10972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34256" y="2926080"/>
            <a:ext cx="3602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5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项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334256" y="393192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重点风险已全部封堵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334256" y="4352544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项高危 + 1 项中危，均回归验证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11312" y="2606040"/>
            <a:ext cx="360273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11312" y="2606040"/>
            <a:ext cx="3602736" cy="10972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11312" y="2926080"/>
            <a:ext cx="3602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5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211312" y="393192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第三方依赖已知漏洞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11312" y="4352544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依赖 CVE 扫描通过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13048" y="5230368"/>
            <a:ext cx="4572000" cy="566928"/>
          </a:xfrm>
          <a:prstGeom prst="rect">
            <a:avLst/>
          </a:prstGeom>
          <a:solidFill>
            <a:srgbClr val="E4F3E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813048" y="52303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5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171 项自动化回归测试全部通过，结果一键可复现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文书通安全自评估汇报 · 2026-07-31 · 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为什么可以放心：四项结构性安全优势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架构层面先天地规避了最大的数据安全风险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5504688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792224"/>
            <a:ext cx="658368" cy="658368"/>
          </a:xfrm>
          <a:prstGeom prst="ellipse">
            <a:avLst/>
          </a:prstGeom>
          <a:solidFill>
            <a:srgbClr val="02506B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93852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105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数据全程不出内网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600200" y="237744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大模型本地部署，文档、会话、审计日志全部在内网闭环处理，无任何公网回传；模型网关设主机白名单强制校验。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36208" y="1536192"/>
            <a:ext cx="5504688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10528" y="1792224"/>
            <a:ext cx="658368" cy="658368"/>
          </a:xfrm>
          <a:prstGeom prst="ellipse">
            <a:avLst/>
          </a:prstGeom>
          <a:solidFill>
            <a:srgbClr val="02506B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93852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9208" y="18105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桌面单机形态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379208" y="237744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不是公网服务，API 仅监听本机回环地址（127.0.0.1），攻击面远小于在线 AI 产品；调用需本机随机令牌。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913632"/>
            <a:ext cx="5504688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31520" y="4169664"/>
            <a:ext cx="658368" cy="658368"/>
          </a:xfrm>
          <a:prstGeom prst="ellipse">
            <a:avLst/>
          </a:prstGeom>
          <a:solidFill>
            <a:srgbClr val="02506B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31596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879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高危操作人工把关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600200" y="47548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写文件、跑脚本等高危操作默认需人工逐次确认（权限三档）；每次工具调用落审计库，全程可追溯。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36208" y="3913632"/>
            <a:ext cx="5504688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510528" y="4169664"/>
            <a:ext cx="658368" cy="658368"/>
          </a:xfrm>
          <a:prstGeom prst="ellipse">
            <a:avLst/>
          </a:prstGeom>
          <a:solidFill>
            <a:srgbClr val="02506B"/>
          </a:solidFill>
          <a:ln/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31596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9208" y="41879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多重安全基线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7379208" y="47548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工作区沙箱防路径越界、安装包防 Zip Slip、配置与审计脱敏、敏感环境变量隔离、CSP/CORS 收紧。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文书通安全自评估汇报 · 2026-07-31 · 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怎么评的：标准化方法 + 权威标准对标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不是“自己说自己安全”——每一类风险都有对应的标准化评测手段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7406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21792" y="16916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8105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361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静态代码扫描（SAST）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0" y="15361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bandit 扫描全部后端代码 3366 行，查硬编码密钥、危险函数调用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487168"/>
            <a:ext cx="7406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21792" y="2642616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7614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4871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供应链漏洞扫描（SCA）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14800" y="24871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pip-audit / npm audit / cargo audit 三路扫描第三方依赖已知 CVE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438144"/>
            <a:ext cx="7406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1792" y="359359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71246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43814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国家标准对标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114800" y="343814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45654—2025《生成式人工智能服务安全基本要求》逐项对照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4389120"/>
            <a:ext cx="7406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21792" y="454456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6634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389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大模型专项风险对标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114800" y="4389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OWASP Top 10 for LLM Applications 2025 国际清单逐项对照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5340096"/>
            <a:ext cx="7406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621792" y="5495544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561441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534009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 + 攻击实测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114800" y="5340096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 Trae + CodeBuddy，调用 Kimi K3 模型逐文件审查核心代码；对脚本逃逸、凭据窃取、路径越界做攻击实测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92440" y="1536192"/>
            <a:ext cx="3657600" cy="4626864"/>
          </a:xfrm>
          <a:prstGeom prst="rect">
            <a:avLst/>
          </a:prstGeom>
          <a:solidFill>
            <a:srgbClr val="02506B"/>
          </a:solidFill>
          <a:ln/>
        </p:spPr>
        <p:txBody>
          <a:bodyPr/>
          <a:p/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1874520"/>
            <a:ext cx="914400" cy="9144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0924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评测结论可信度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366760" y="33375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D6E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方法公开：全部使用业界标准工具与公开标准</a:t>
            </a:r>
            <a:endParaRPr lang="en-US" sz="1150" dirty="0"/>
          </a:p>
          <a:p>
            <a:pPr marL="127000" indent="-1270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D6E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过程留痕：扫描报告、测试记录全部归档</a:t>
            </a:r>
            <a:endParaRPr lang="en-US" sz="1150" dirty="0"/>
          </a:p>
          <a:p>
            <a:pPr marL="127000" indent="-1270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D6E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结果可复现：一键重跑，随时接受复核</a:t>
            </a:r>
            <a:endParaRPr lang="en-US" sz="1150" dirty="0"/>
          </a:p>
          <a:p>
            <a:pPr marL="127000" indent="-1270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D6E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不替代第三方测评：试点期内完成渗透测试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文书通安全自评估汇报 · 2026-07-31 · 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评出来什么：扫描与测试数据一览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每一类攻击面都有对应数据，全部归档可查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5852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评测维度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 / 方法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06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后端代码静态扫描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bandit（3366 行）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项高危告警经分析判定为误报（文件去重指纹用 SHA1），6 项低危提示均非漏洞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依赖漏洞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pip-audit 全量依赖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个已知 CVE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前端依赖漏洞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npm audit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项高危均在开发工具链，不随产品发布、不进运行时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Rust 桌面壳漏洞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cargo audit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个 error 级 CVE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攻击实测（PoC）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脚本逃逸 / 凭据窃取 / 路径越界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发现的问题已封堵；封堵后复测通过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安全回归测试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pytest 全量 171 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全部通过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文书通安全自评估汇报 · 2026-07-31 · 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发现的重点风险与处置：3 项已封堵、1 项部署收敛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自评的价值在于发现问题——更重要的是，发现的问题已经处置并验证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536192"/>
            <a:ext cx="658368" cy="841248"/>
          </a:xfrm>
          <a:prstGeom prst="rect">
            <a:avLst/>
          </a:prstGeom>
          <a:solidFill>
            <a:srgbClr val="C0563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536192"/>
            <a:ext cx="658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536192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脚本可窃取软件持有的密钥令牌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15000" y="1536192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子进程环境变量按敏感名单强制剥离，脚本拿不到任何凭据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175564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27080" y="17556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已封堵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05456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57200" y="2505456"/>
            <a:ext cx="658368" cy="841248"/>
          </a:xfrm>
          <a:prstGeom prst="rect">
            <a:avLst/>
          </a:prstGeom>
          <a:solidFill>
            <a:srgbClr val="C0563B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57200" y="2505456"/>
            <a:ext cx="658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98448" y="2505456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审计日志明文记录公文全文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715000" y="2505456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审计落库前自动脱敏，正文只记长度、凭据完全遮罩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24912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927080" y="272491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已封堵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3474720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57200" y="3474720"/>
            <a:ext cx="658368" cy="841248"/>
          </a:xfrm>
          <a:prstGeom prst="rect">
            <a:avLst/>
          </a:prstGeom>
          <a:solidFill>
            <a:srgbClr val="9A6A00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457200" y="3474720"/>
            <a:ext cx="658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298448" y="347472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服务可被改绑至内网地址且无鉴权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715000" y="347472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启动硬校验：绑非本机地址且未设令牌时直接拒绝启动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694176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927080" y="36941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已封堵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57200" y="4443984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457200" y="4443984"/>
            <a:ext cx="658368" cy="841248"/>
          </a:xfrm>
          <a:prstGeom prst="rect">
            <a:avLst/>
          </a:prstGeom>
          <a:solidFill>
            <a:srgbClr val="9A6A00"/>
          </a:solidFill>
          <a:ln/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457200" y="4443984"/>
            <a:ext cx="658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1298448" y="4443984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配置文件明文存模型密钥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715000" y="4443984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读取接口已脱敏；部署期用系统文件权限锁定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10515600" y="4681728"/>
            <a:ext cx="1143000" cy="365760"/>
          </a:xfrm>
          <a:prstGeom prst="rect">
            <a:avLst/>
          </a:prstGeom>
          <a:solidFill>
            <a:srgbClr val="F3E9D2"/>
          </a:solidFill>
          <a:ln/>
        </p:spPr>
        <p:txBody>
          <a:bodyPr/>
          <a:p/>
        </p:txBody>
      </p:sp>
      <p:sp>
        <p:nvSpPr>
          <p:cNvPr id="31" name="Text 26"/>
          <p:cNvSpPr/>
          <p:nvPr/>
        </p:nvSpPr>
        <p:spPr>
          <a:xfrm>
            <a:off x="10515600" y="46817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试点准入项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封堵后全量回归：171 项测试通过、无回归；攻击实测复测确认失效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文书通安全自评估汇报 · 2026-07-31 · 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剩下的风险怎么管：试点准入“六条军规”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残留风险不依赖“相信软件”，全部转化为可逐台核验的部署动作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3602736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536192"/>
            <a:ext cx="91440" cy="206654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94944" y="17556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745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17922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网络硬隔离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3232" y="2468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用系统防火墙禁止本软件出站，仅放行本地大模型地址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34256" y="1536192"/>
            <a:ext cx="3602736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334256" y="1536192"/>
            <a:ext cx="91440" cy="206654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572000" y="17556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87452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66944" y="17922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本地大模型配置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90288" y="2468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安装后首屏必须改为本地大模型地址，不得保留公网默认值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11312" y="1536192"/>
            <a:ext cx="3602736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211312" y="1536192"/>
            <a:ext cx="91440" cy="206654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8449056" y="17556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1874520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0" y="17922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配置文件加锁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467344" y="2468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用系统文件权限锁定配置文件，仅运行用户可读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822192"/>
            <a:ext cx="3602736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457200" y="3822192"/>
            <a:ext cx="91440" cy="206654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694944" y="40416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4160520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89888" y="40782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权限默认最严档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13232" y="4754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试点期每次写文件/跑脚本都需人工确认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34256" y="3822192"/>
            <a:ext cx="3602736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29" name="Shape 23"/>
          <p:cNvSpPr/>
          <p:nvPr/>
        </p:nvSpPr>
        <p:spPr>
          <a:xfrm>
            <a:off x="4334256" y="3822192"/>
            <a:ext cx="91440" cy="206654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0" name="Shape 24"/>
          <p:cNvSpPr/>
          <p:nvPr/>
        </p:nvSpPr>
        <p:spPr>
          <a:xfrm>
            <a:off x="4572000" y="40416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160520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66944" y="40782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仅监听本机回环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590288" y="4754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已由代码强制；试点机逐台核验启动参数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11312" y="3822192"/>
            <a:ext cx="3602736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35" name="Shape 28"/>
          <p:cNvSpPr/>
          <p:nvPr/>
        </p:nvSpPr>
        <p:spPr>
          <a:xfrm>
            <a:off x="8211312" y="3822192"/>
            <a:ext cx="91440" cy="206654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6" name="Shape 29"/>
          <p:cNvSpPr/>
          <p:nvPr/>
        </p:nvSpPr>
        <p:spPr>
          <a:xfrm>
            <a:off x="8449056" y="40416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928" y="4160520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144000" y="40782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范围限定 + 专人运维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8467344" y="4754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3–5 人、非涉密公文，审计日志每周复核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文书通安全自评估汇报 · 2026-07-31 · 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试点方案：小范围、可监控、能退出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用最小代价验证价值，用明确机制控制风险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3602736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536192"/>
            <a:ext cx="3602736" cy="914400"/>
          </a:xfrm>
          <a:prstGeom prst="rect">
            <a:avLst/>
          </a:prstGeom>
          <a:solidFill>
            <a:srgbClr val="02506B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73936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3619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试点范围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13232" y="269748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 3–5 名用户，周期 2–4 周</a:t>
            </a:r>
            <a:endParaRPr lang="en-US" sz="1200" dirty="0"/>
          </a:p>
          <a:p>
            <a:pPr marL="101600" indent="-1016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仅限非涉密公文：排版、批量文档整理</a:t>
            </a:r>
            <a:endParaRPr lang="en-US" sz="1200" dirty="0"/>
          </a:p>
          <a:p>
            <a:pPr marL="101600" indent="-1016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暂不启用写作类选装包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4256" y="1536192"/>
            <a:ext cx="3602736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334256" y="1536192"/>
            <a:ext cx="3602736" cy="914400"/>
          </a:xfrm>
          <a:prstGeom prst="rect">
            <a:avLst/>
          </a:prstGeom>
          <a:solidFill>
            <a:srgbClr val="02506B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1773936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02936" y="153619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过程监控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90288" y="269748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审计日志每周复核，异常调用告警</a:t>
            </a:r>
            <a:endParaRPr lang="en-US" sz="1200" dirty="0"/>
          </a:p>
          <a:p>
            <a:pPr marL="101600" indent="-1016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全部高危操作留痕、可追溯</a:t>
            </a:r>
            <a:endParaRPr lang="en-US" sz="1200" dirty="0"/>
          </a:p>
          <a:p>
            <a:pPr marL="101600" indent="-1016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用户反馈与安全事件双通道收集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11312" y="1536192"/>
            <a:ext cx="3602736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2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11312" y="1536192"/>
            <a:ext cx="3602736" cy="914400"/>
          </a:xfrm>
          <a:prstGeom prst="rect">
            <a:avLst/>
          </a:prstGeom>
          <a:solidFill>
            <a:srgbClr val="02506B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77393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79992" y="153619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退出与转正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67344" y="269748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出现安全事件：立即停用、回退</a:t>
            </a:r>
            <a:endParaRPr lang="en-US" sz="1200" dirty="0"/>
          </a:p>
          <a:p>
            <a:pPr marL="101600" indent="-1016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期满无事件：完成第三方渗透测试</a:t>
            </a:r>
            <a:endParaRPr lang="en-US" sz="1200" dirty="0"/>
          </a:p>
          <a:p>
            <a:pPr marL="101600" indent="-1016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测评通过后转正式使用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文书通安全自评估汇报 · 2026-07-31 · 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2506B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6858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83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请示事项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737360" y="2743200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737360" y="2743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514600" y="26974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批准文书通在 3–5 人范围、非涉密公文场景开展 2–4 周内部试点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737360" y="3703320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737360" y="3703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514600" y="365760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同意按“六条军规”落实试点机部署配置，并安排专人运维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737360" y="4663440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737360" y="4663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3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514600" y="461772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试点期满无安全事件后，委托持证测评机构完成渗透测试并转正式使用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安全自评估报告全文（含数据、对照表、复现命令）随附，可随时复核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文书通安全自评估汇报</dc:title>
  <dc:subject>PptxGenJS Presentation</dc:subject>
  <dc:creator>文书通项目组</dc:creator>
  <cp:lastModifiedBy>文书通项目组</cp:lastModifiedBy>
  <cp:revision>1</cp:revision>
  <dcterms:created xsi:type="dcterms:W3CDTF">2026-07-31T14:08:02Z</dcterms:created>
  <dcterms:modified xsi:type="dcterms:W3CDTF">2026-07-31T14:08:02Z</dcterms:modified>
</cp:coreProperties>
</file>